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80" r:id="rId7"/>
    <p:sldId id="261" r:id="rId8"/>
    <p:sldId id="262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82" r:id="rId19"/>
    <p:sldId id="276" r:id="rId20"/>
    <p:sldId id="277" r:id="rId21"/>
    <p:sldId id="278" r:id="rId22"/>
    <p:sldId id="279" r:id="rId23"/>
    <p:sldId id="281" r:id="rId24"/>
    <p:sldId id="265" r:id="rId25"/>
  </p:sldIdLst>
  <p:sldSz cx="12192000" cy="6858000"/>
  <p:notesSz cx="6858000" cy="9144000"/>
  <p:embeddedFontLst>
    <p:embeddedFont>
      <p:font typeface="Libre Baskerville" panose="02000000000000000000" pitchFamily="2" charset="0"/>
      <p:regular r:id="rId27"/>
      <p:bold r:id="rId28"/>
      <p:italic r:id="rId29"/>
      <p:boldItalic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2" roundtripDataSignature="AMtx7mjtbY5wgKXJavlTrTc5T4KWKg9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endParaRPr/>
          </a:p>
        </p:txBody>
      </p:sp>
      <p:sp>
        <p:nvSpPr>
          <p:cNvPr id="96" name="Google Shape;9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8" name="Google Shape;10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f6febd49a5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g3f6febd49a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f6febd49a5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0" name="Google Shape;120;g3f6febd49a5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3B34A02A-FDA3-2E76-364F-99FAE766B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6febd49a5_0_18:notes">
            <a:extLst>
              <a:ext uri="{FF2B5EF4-FFF2-40B4-BE49-F238E27FC236}">
                <a16:creationId xmlns:a16="http://schemas.microsoft.com/office/drawing/2014/main" id="{2115DB28-E2C6-8A5B-0ED0-BB8F0385CA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g3f6febd49a5_0_18:notes">
            <a:extLst>
              <a:ext uri="{FF2B5EF4-FFF2-40B4-BE49-F238E27FC236}">
                <a16:creationId xmlns:a16="http://schemas.microsoft.com/office/drawing/2014/main" id="{9A9D0149-E63B-54D9-6F3D-F92FE61FFA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559985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f6febd49a5_0_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6" name="Google Shape;126;g3f6febd49a5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febd49a5_0_3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f6febd49a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9FF6A6F9-6093-936E-DDD0-86B44D53C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febd49a5_0_33:notes">
            <a:extLst>
              <a:ext uri="{FF2B5EF4-FFF2-40B4-BE49-F238E27FC236}">
                <a16:creationId xmlns:a16="http://schemas.microsoft.com/office/drawing/2014/main" id="{FB7373F5-7ABB-AA18-E02F-856D8C9E66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f6febd49a5_0_33:notes">
            <a:extLst>
              <a:ext uri="{FF2B5EF4-FFF2-40B4-BE49-F238E27FC236}">
                <a16:creationId xmlns:a16="http://schemas.microsoft.com/office/drawing/2014/main" id="{86F6058A-0EE1-C2A6-B900-F652A65316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740991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A016D329-17DF-4459-04B3-7D782BF9F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febd49a5_0_33:notes">
            <a:extLst>
              <a:ext uri="{FF2B5EF4-FFF2-40B4-BE49-F238E27FC236}">
                <a16:creationId xmlns:a16="http://schemas.microsoft.com/office/drawing/2014/main" id="{C592949A-3203-BFAE-A263-7788BA6FD5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f6febd49a5_0_33:notes">
            <a:extLst>
              <a:ext uri="{FF2B5EF4-FFF2-40B4-BE49-F238E27FC236}">
                <a16:creationId xmlns:a16="http://schemas.microsoft.com/office/drawing/2014/main" id="{F74DBF45-BC93-163A-41A1-0B46CE87A7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1430670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DDACB2FD-5C30-3BBF-77AB-BBCC89E106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febd49a5_0_33:notes">
            <a:extLst>
              <a:ext uri="{FF2B5EF4-FFF2-40B4-BE49-F238E27FC236}">
                <a16:creationId xmlns:a16="http://schemas.microsoft.com/office/drawing/2014/main" id="{B39314C2-F7F0-0A8A-568C-17628BC7A9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f6febd49a5_0_33:notes">
            <a:extLst>
              <a:ext uri="{FF2B5EF4-FFF2-40B4-BE49-F238E27FC236}">
                <a16:creationId xmlns:a16="http://schemas.microsoft.com/office/drawing/2014/main" id="{325EA0D4-1E55-5A22-2C78-19C1BF72776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09935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C195073C-57FB-18EB-B16E-F22B0CC55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febd49a5_0_33:notes">
            <a:extLst>
              <a:ext uri="{FF2B5EF4-FFF2-40B4-BE49-F238E27FC236}">
                <a16:creationId xmlns:a16="http://schemas.microsoft.com/office/drawing/2014/main" id="{4285268A-6E9D-5E4F-BDF1-45EE9E01DC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f6febd49a5_0_33:notes">
            <a:extLst>
              <a:ext uri="{FF2B5EF4-FFF2-40B4-BE49-F238E27FC236}">
                <a16:creationId xmlns:a16="http://schemas.microsoft.com/office/drawing/2014/main" id="{3B608DC0-D1D8-726F-EAA6-706C4D40DE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061168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1B3EB06F-55AD-8945-6687-6F97EED37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febd49a5_0_33:notes">
            <a:extLst>
              <a:ext uri="{FF2B5EF4-FFF2-40B4-BE49-F238E27FC236}">
                <a16:creationId xmlns:a16="http://schemas.microsoft.com/office/drawing/2014/main" id="{3A668E08-3A88-E54C-6539-4130D5DD9D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f6febd49a5_0_33:notes">
            <a:extLst>
              <a:ext uri="{FF2B5EF4-FFF2-40B4-BE49-F238E27FC236}">
                <a16:creationId xmlns:a16="http://schemas.microsoft.com/office/drawing/2014/main" id="{C3FA9D95-D2CF-1E8D-89D2-40DA7AE014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61378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BE227CF9-BAE1-277D-E171-DF7A2E87CA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febd49a5_0_33:notes">
            <a:extLst>
              <a:ext uri="{FF2B5EF4-FFF2-40B4-BE49-F238E27FC236}">
                <a16:creationId xmlns:a16="http://schemas.microsoft.com/office/drawing/2014/main" id="{97A42133-10E0-01A4-D9EB-A5F69B699A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f6febd49a5_0_33:notes">
            <a:extLst>
              <a:ext uri="{FF2B5EF4-FFF2-40B4-BE49-F238E27FC236}">
                <a16:creationId xmlns:a16="http://schemas.microsoft.com/office/drawing/2014/main" id="{8F2C5D98-A89E-BC28-C85C-4F5713FB64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75187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F7134588-2FAA-B35C-E2F1-2DF07956F6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febd49a5_0_33:notes">
            <a:extLst>
              <a:ext uri="{FF2B5EF4-FFF2-40B4-BE49-F238E27FC236}">
                <a16:creationId xmlns:a16="http://schemas.microsoft.com/office/drawing/2014/main" id="{5F22DCCD-788F-2000-636D-AD5E84AFA7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f6febd49a5_0_33:notes">
            <a:extLst>
              <a:ext uri="{FF2B5EF4-FFF2-40B4-BE49-F238E27FC236}">
                <a16:creationId xmlns:a16="http://schemas.microsoft.com/office/drawing/2014/main" id="{074E526C-F292-13C0-704D-570A27B240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009278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2F15B06D-2F9A-7478-A2DE-D660515346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febd49a5_0_33:notes">
            <a:extLst>
              <a:ext uri="{FF2B5EF4-FFF2-40B4-BE49-F238E27FC236}">
                <a16:creationId xmlns:a16="http://schemas.microsoft.com/office/drawing/2014/main" id="{893A197C-8D13-9DF5-168D-88DE233BF13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f6febd49a5_0_33:notes">
            <a:extLst>
              <a:ext uri="{FF2B5EF4-FFF2-40B4-BE49-F238E27FC236}">
                <a16:creationId xmlns:a16="http://schemas.microsoft.com/office/drawing/2014/main" id="{6A543AF0-72BC-25FE-D604-89D80E53327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821495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D508F33D-8FA1-4F44-D1EE-F05ED7F47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febd49a5_0_33:notes">
            <a:extLst>
              <a:ext uri="{FF2B5EF4-FFF2-40B4-BE49-F238E27FC236}">
                <a16:creationId xmlns:a16="http://schemas.microsoft.com/office/drawing/2014/main" id="{7CCF2476-F18F-F32F-7A5C-02901AFA3E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f6febd49a5_0_33:notes">
            <a:extLst>
              <a:ext uri="{FF2B5EF4-FFF2-40B4-BE49-F238E27FC236}">
                <a16:creationId xmlns:a16="http://schemas.microsoft.com/office/drawing/2014/main" id="{51269714-DE1D-F182-3088-6E1BFF5E50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149520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58656977-7863-73F4-C9D8-329974DDA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febd49a5_0_33:notes">
            <a:extLst>
              <a:ext uri="{FF2B5EF4-FFF2-40B4-BE49-F238E27FC236}">
                <a16:creationId xmlns:a16="http://schemas.microsoft.com/office/drawing/2014/main" id="{9E165BC0-8E1F-C95D-13D6-F54219589F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f6febd49a5_0_33:notes">
            <a:extLst>
              <a:ext uri="{FF2B5EF4-FFF2-40B4-BE49-F238E27FC236}">
                <a16:creationId xmlns:a16="http://schemas.microsoft.com/office/drawing/2014/main" id="{B363488E-122F-0AE3-6AD8-7207E60755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01321908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18B35A9C-C068-8B59-BFD6-3941C7960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febd49a5_0_33:notes">
            <a:extLst>
              <a:ext uri="{FF2B5EF4-FFF2-40B4-BE49-F238E27FC236}">
                <a16:creationId xmlns:a16="http://schemas.microsoft.com/office/drawing/2014/main" id="{DD8181E5-A2EC-748C-B58C-90422676005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f6febd49a5_0_33:notes">
            <a:extLst>
              <a:ext uri="{FF2B5EF4-FFF2-40B4-BE49-F238E27FC236}">
                <a16:creationId xmlns:a16="http://schemas.microsoft.com/office/drawing/2014/main" id="{74E14E10-B1C2-3D3C-6D56-3AE62A55C20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4469202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3A0B41AB-6E2B-E71D-549B-5C8FFA6287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f6febd49a5_0_33:notes">
            <a:extLst>
              <a:ext uri="{FF2B5EF4-FFF2-40B4-BE49-F238E27FC236}">
                <a16:creationId xmlns:a16="http://schemas.microsoft.com/office/drawing/2014/main" id="{6396F418-1A85-B6B9-7128-855FC460BB5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3" name="Google Shape;133;g3f6febd49a5_0_33:notes">
            <a:extLst>
              <a:ext uri="{FF2B5EF4-FFF2-40B4-BE49-F238E27FC236}">
                <a16:creationId xmlns:a16="http://schemas.microsoft.com/office/drawing/2014/main" id="{52F5BDF5-6A96-2A92-A7B7-445C01BCB1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4268807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A6E9B9A-1CA3-D44D-C579-DC456583B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6febd49a5_0_18:notes">
            <a:extLst>
              <a:ext uri="{FF2B5EF4-FFF2-40B4-BE49-F238E27FC236}">
                <a16:creationId xmlns:a16="http://schemas.microsoft.com/office/drawing/2014/main" id="{33F2AA68-D2A7-2539-BC68-CD47A393E9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g3f6febd49a5_0_18:notes">
            <a:extLst>
              <a:ext uri="{FF2B5EF4-FFF2-40B4-BE49-F238E27FC236}">
                <a16:creationId xmlns:a16="http://schemas.microsoft.com/office/drawing/2014/main" id="{5C317F0B-B3D3-B0E9-E083-0CA5FEBE99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1602846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E1DC1DCB-A8A8-0A2B-F54B-87F7D50A2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f6febd49a5_0_18:notes">
            <a:extLst>
              <a:ext uri="{FF2B5EF4-FFF2-40B4-BE49-F238E27FC236}">
                <a16:creationId xmlns:a16="http://schemas.microsoft.com/office/drawing/2014/main" id="{6C11FB52-4DD7-B9F2-9FF7-AF1482390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7" name="Google Shape;147;g3f6febd49a5_0_18:notes">
            <a:extLst>
              <a:ext uri="{FF2B5EF4-FFF2-40B4-BE49-F238E27FC236}">
                <a16:creationId xmlns:a16="http://schemas.microsoft.com/office/drawing/2014/main" id="{D4B5C111-96A9-C75F-3FB9-BBE180383D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3625019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/>
          </a:p>
        </p:txBody>
      </p:sp>
      <p:sp>
        <p:nvSpPr>
          <p:cNvPr id="154" name="Google Shape;15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0" name="Google Shape;2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25" name="Google Shape;25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2" name="Google Shape;3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39" name="Google Shape;39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46" name="Google Shape;46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54" name="Google Shape;54;p1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1" name="Google Shape;6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87" name="Google Shape;87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814232" y="6184984"/>
            <a:ext cx="3225397" cy="6730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1" name="Google Shape;9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2" y="0"/>
            <a:ext cx="12190815" cy="669409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"/>
          <p:cNvSpPr txBox="1"/>
          <p:nvPr/>
        </p:nvSpPr>
        <p:spPr>
          <a:xfrm>
            <a:off x="2340043" y="3788324"/>
            <a:ext cx="724618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Global Energy &amp; Environmental InsightsA MySQL-Based Data Analysis Project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Google Shape;99;p1">
            <a:extLst>
              <a:ext uri="{FF2B5EF4-FFF2-40B4-BE49-F238E27FC236}">
                <a16:creationId xmlns:a16="http://schemas.microsoft.com/office/drawing/2014/main" id="{77D51045-AAA9-A9B0-33FB-11ABA1167B7F}"/>
              </a:ext>
            </a:extLst>
          </p:cNvPr>
          <p:cNvSpPr txBox="1"/>
          <p:nvPr/>
        </p:nvSpPr>
        <p:spPr>
          <a:xfrm>
            <a:off x="2340042" y="4644108"/>
            <a:ext cx="7246189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SzPts val="1800"/>
            </a:pPr>
            <a:br>
              <a:rPr lang="en-IN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Presented By:</a:t>
            </a:r>
          </a:p>
          <a:p>
            <a:pPr lvl="0" algn="ctr">
              <a:buSzPts val="1800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Manasa Reddy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737811" y="1299172"/>
            <a:ext cx="9437819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Manasa Reddy 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Background : 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B.Tech – Electronics &amp; Communication Engineering</a:t>
            </a:r>
          </a:p>
          <a:p>
            <a:pPr lvl="0" algn="just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Why Data Science? : 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am interested in working with data, solving real-   world problems, and using analytical thinking to gain meaningful insights.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Experience : </a:t>
            </a:r>
            <a:r>
              <a:rPr lang="en-I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Fresher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LinkedIn : </a:t>
            </a:r>
            <a:r>
              <a:rPr lang="en-IN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htpp://www.linkedin.com/in/manasa-reddy-a0a057373</a:t>
            </a:r>
          </a:p>
          <a:p>
            <a:pPr lvl="0">
              <a:lnSpc>
                <a:spcPct val="150000"/>
              </a:lnSpc>
              <a:buClr>
                <a:schemeClr val="dk1"/>
              </a:buClr>
              <a:buSzPts val="2400"/>
            </a:pPr>
            <a:r>
              <a:rPr lang="en-IN" sz="2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GitHub : </a:t>
            </a:r>
            <a:r>
              <a:rPr lang="en-IN" sz="2400">
                <a:solidFill>
                  <a:srgbClr val="00B0F0"/>
                </a:solidFill>
                <a:latin typeface="Calibri"/>
                <a:ea typeface="Calibri"/>
                <a:cs typeface="Calibri"/>
                <a:sym typeface="Calibri"/>
              </a:rPr>
              <a:t>htpp://www.github.com/manasareddy2023-pixel</a:t>
            </a:r>
            <a:endParaRPr sz="2400" i="0" u="none" strike="noStrike" cap="none">
              <a:solidFill>
                <a:srgbClr val="00B0F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 txBox="1"/>
          <p:nvPr/>
        </p:nvSpPr>
        <p:spPr>
          <a:xfrm>
            <a:off x="2178302" y="408738"/>
            <a:ext cx="6099600" cy="486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>
              <a:lnSpc>
                <a:spcPct val="80000"/>
              </a:lnSpc>
              <a:buClr>
                <a:srgbClr val="FF0000"/>
              </a:buClr>
              <a:buSzPts val="3200"/>
            </a:pPr>
            <a:r>
              <a:rPr lang="en-IN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      About me</a:t>
            </a:r>
            <a:endParaRPr sz="1800" b="0" i="0" u="none" strike="noStrike" cap="none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buClr>
                <a:srgbClr val="FF0000"/>
              </a:buClr>
              <a:buSzPts val="4400"/>
            </a:pPr>
            <a:r>
              <a:rPr lang="en-US" b="1">
                <a:solidFill>
                  <a:srgbClr val="FF0000"/>
                </a:solidFill>
              </a:rPr>
              <a:t>AGENDA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1" name="Google Shape;111;p4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68300" lvl="0">
              <a:lnSpc>
                <a:spcPct val="150000"/>
              </a:lnSpc>
              <a:buSzPts val="2400"/>
              <a:buFont typeface="Wingdings" panose="05000000000000000000" pitchFamily="2" charset="2"/>
              <a:buChar char="§"/>
            </a:pPr>
            <a:r>
              <a:rPr lang="en-US" sz="2400" b="1"/>
              <a:t>Objective of the Project</a:t>
            </a:r>
          </a:p>
          <a:p>
            <a:pPr marL="368300" lvl="0">
              <a:lnSpc>
                <a:spcPct val="150000"/>
              </a:lnSpc>
              <a:buSzPts val="2400"/>
              <a:buFont typeface="Wingdings" panose="05000000000000000000" pitchFamily="2" charset="2"/>
              <a:buChar char="§"/>
            </a:pPr>
            <a:r>
              <a:rPr lang="en-US" sz="2400" b="1"/>
              <a:t>Database Schema &amp; ER Diagram Explanation</a:t>
            </a:r>
          </a:p>
          <a:p>
            <a:pPr marL="368300" lvl="0">
              <a:lnSpc>
                <a:spcPct val="150000"/>
              </a:lnSpc>
              <a:buSzPts val="2400"/>
              <a:buFont typeface="Wingdings" panose="05000000000000000000" pitchFamily="2" charset="2"/>
              <a:buChar char="§"/>
            </a:pPr>
            <a:r>
              <a:rPr lang="en-US" sz="2400" b="1"/>
              <a:t> Key Analysis Questions</a:t>
            </a:r>
          </a:p>
          <a:p>
            <a:pPr marL="368300" lvl="0">
              <a:lnSpc>
                <a:spcPct val="150000"/>
              </a:lnSpc>
              <a:buSzPts val="2400"/>
              <a:buFont typeface="Wingdings" panose="05000000000000000000" pitchFamily="2" charset="2"/>
              <a:buChar char="§"/>
            </a:pPr>
            <a:r>
              <a:rPr lang="en-US" sz="2400" b="1"/>
              <a:t>SQL Analysis &amp; Key Insights</a:t>
            </a:r>
          </a:p>
          <a:p>
            <a:pPr marL="368300" lvl="0">
              <a:lnSpc>
                <a:spcPct val="150000"/>
              </a:lnSpc>
              <a:buSzPts val="2400"/>
              <a:buFont typeface="Wingdings" panose="05000000000000000000" pitchFamily="2" charset="2"/>
              <a:buChar char="§"/>
            </a:pPr>
            <a:r>
              <a:rPr lang="en-US" sz="2400" b="1"/>
              <a:t>Conclusion &amp; Overall Findings</a:t>
            </a:r>
          </a:p>
          <a:p>
            <a:pPr marL="368300" lvl="0">
              <a:lnSpc>
                <a:spcPct val="150000"/>
              </a:lnSpc>
              <a:buSzPts val="2400"/>
              <a:buFont typeface="Wingdings" panose="05000000000000000000" pitchFamily="2" charset="2"/>
              <a:buChar char="§"/>
            </a:pPr>
            <a:r>
              <a:rPr lang="en-US" sz="2400" b="1"/>
              <a:t>Challenges / Learning Experience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6febd49a5_0_0"/>
          <p:cNvSpPr txBox="1">
            <a:spLocks noGrp="1"/>
          </p:cNvSpPr>
          <p:nvPr>
            <p:ph type="title"/>
          </p:nvPr>
        </p:nvSpPr>
        <p:spPr>
          <a:xfrm>
            <a:off x="280522" y="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>
                <a:solidFill>
                  <a:srgbClr val="FF0000"/>
                </a:solidFill>
              </a:rPr>
              <a:t>Objective : 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17" name="Google Shape;117;g3f6febd49a5_0_0"/>
          <p:cNvSpPr txBox="1">
            <a:spLocks noGrp="1"/>
          </p:cNvSpPr>
          <p:nvPr>
            <p:ph type="body" idx="1"/>
          </p:nvPr>
        </p:nvSpPr>
        <p:spPr>
          <a:xfrm>
            <a:off x="348580" y="1457109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 b="1"/>
              <a:t>➤ Analyzing global energy consumption, production, emissions, GDP, and population using SQL.</a:t>
            </a:r>
            <a:endParaRPr sz="2400" b="1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 b="1"/>
              <a:t>➤ Compare energy production and consumption across different countries and years.</a:t>
            </a:r>
            <a:endParaRPr sz="2400" b="1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 b="1"/>
              <a:t>➤ Identify trends and relationships between economic growth, energy usage, population, and emissions.</a:t>
            </a:r>
            <a:endParaRPr sz="2400" b="1"/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 b="1"/>
              <a:t>➤ Generate meaningful insights to understand country-wise energy and emission patterns.</a:t>
            </a:r>
            <a:endParaRPr sz="24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f6febd49a5_0_12"/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>
                <a:solidFill>
                  <a:srgbClr val="FF0000"/>
                </a:solidFill>
              </a:rPr>
              <a:t>Problem Statement :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3" name="Google Shape;123;g3f6febd49a5_0_12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/>
              <a:t>➤ Energy consumption and production vary significantly across different countries and years.</a:t>
            </a:r>
            <a:endParaRPr sz="24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/>
              <a:t>➤ Understanding the relationship between energy use, GDP, population, and emissions is challenging.</a:t>
            </a:r>
            <a:endParaRPr sz="24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/>
              <a:t>➤ Energy-related data is distributed across multiple tables, making comparison and analysis difficult.</a:t>
            </a:r>
            <a:endParaRPr sz="24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400" b="1"/>
              <a:t>➤ A structured SQL-based analysis is needed to identify trends, compare countries, and understand energy and emission patterns.</a:t>
            </a:r>
            <a:endParaRPr sz="2400"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6CB1A35-70E7-1091-12F1-03D523284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febd49a5_0_18">
            <a:extLst>
              <a:ext uri="{FF2B5EF4-FFF2-40B4-BE49-F238E27FC236}">
                <a16:creationId xmlns:a16="http://schemas.microsoft.com/office/drawing/2014/main" id="{2C61DFC5-05F1-3CDE-E5A9-137BEB21EC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08472" y="1825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>
                <a:solidFill>
                  <a:srgbClr val="FF0000"/>
                </a:solidFill>
              </a:rPr>
              <a:t>Overview : 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50" name="Google Shape;150;g3f6febd49a5_0_18">
            <a:extLst>
              <a:ext uri="{FF2B5EF4-FFF2-40B4-BE49-F238E27FC236}">
                <a16:creationId xmlns:a16="http://schemas.microsoft.com/office/drawing/2014/main" id="{1ADE0B08-A321-A1DC-20DE-444C682A0C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2850" y="1529150"/>
            <a:ext cx="49143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 b="1"/>
              <a:t>Technologies Used :</a:t>
            </a:r>
            <a:endParaRPr sz="240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 b="1"/>
              <a:t>	</a:t>
            </a:r>
            <a:endParaRPr sz="2400" b="1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/>
              <a:t>• MySQL	</a:t>
            </a:r>
            <a:endParaRPr sz="24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/>
              <a:t>• SQL	</a:t>
            </a:r>
            <a:endParaRPr sz="24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/>
              <a:t>• MySQL Workbench	</a:t>
            </a:r>
            <a:endParaRPr sz="2400"/>
          </a:p>
        </p:txBody>
      </p:sp>
      <p:sp>
        <p:nvSpPr>
          <p:cNvPr id="151" name="Google Shape;151;g3f6febd49a5_0_18">
            <a:extLst>
              <a:ext uri="{FF2B5EF4-FFF2-40B4-BE49-F238E27FC236}">
                <a16:creationId xmlns:a16="http://schemas.microsoft.com/office/drawing/2014/main" id="{B23BBFD5-C07A-0737-CBAF-B7F00B2125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85869" y="1567550"/>
            <a:ext cx="4914300" cy="47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 b="1"/>
              <a:t> Key Features :</a:t>
            </a:r>
            <a:endParaRPr sz="240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/>
              <a:t>• Global Energy Consumption Analysis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/>
              <a:t>• Energy Production &amp; Consumption Comparison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/>
              <a:t>• GDP &amp; Population Analysis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/>
              <a:t>• Emission Trend Analysis</a:t>
            </a:r>
            <a:endParaRPr sz="24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2400"/>
              <a:t>• Per-Capita Analysis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0668588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f6febd49a5_0_26"/>
          <p:cNvSpPr txBox="1">
            <a:spLocks noGrp="1"/>
          </p:cNvSpPr>
          <p:nvPr>
            <p:ph type="title"/>
          </p:nvPr>
        </p:nvSpPr>
        <p:spPr>
          <a:xfrm>
            <a:off x="160422" y="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IN" b="1">
                <a:solidFill>
                  <a:srgbClr val="FF0000"/>
                </a:solidFill>
              </a:rPr>
              <a:t>ER Diagram: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29" name="Google Shape;129;g3f6febd49a5_0_26"/>
          <p:cNvSpPr txBox="1">
            <a:spLocks noGrp="1"/>
          </p:cNvSpPr>
          <p:nvPr>
            <p:ph type="body" idx="1"/>
          </p:nvPr>
        </p:nvSpPr>
        <p:spPr>
          <a:xfrm>
            <a:off x="684880" y="1493134"/>
            <a:ext cx="10515600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/>
          </a:p>
        </p:txBody>
      </p:sp>
      <p:pic>
        <p:nvPicPr>
          <p:cNvPr id="130" name="Google Shape;130;g3f6febd49a5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4875" y="1493125"/>
            <a:ext cx="10431525" cy="4685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febd49a5_0_33"/>
          <p:cNvSpPr txBox="1">
            <a:spLocks noGrp="1"/>
          </p:cNvSpPr>
          <p:nvPr>
            <p:ph type="title"/>
          </p:nvPr>
        </p:nvSpPr>
        <p:spPr>
          <a:xfrm>
            <a:off x="3349101" y="0"/>
            <a:ext cx="4778899" cy="85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r>
              <a:rPr lang="en-US" b="1">
                <a:solidFill>
                  <a:srgbClr val="FF0000"/>
                </a:solidFill>
              </a:rPr>
              <a:t>A</a:t>
            </a:r>
            <a:r>
              <a:rPr lang="en-IN" b="1">
                <a:solidFill>
                  <a:srgbClr val="FF0000"/>
                </a:solidFill>
              </a:rPr>
              <a:t>nalysis Questions</a:t>
            </a:r>
            <a:endParaRPr b="1">
              <a:solidFill>
                <a:srgbClr val="FF0000"/>
              </a:solidFill>
            </a:endParaRPr>
          </a:p>
        </p:txBody>
      </p:sp>
      <p:sp>
        <p:nvSpPr>
          <p:cNvPr id="136" name="Google Shape;136;g3f6febd49a5_0_33"/>
          <p:cNvSpPr txBox="1">
            <a:spLocks noGrp="1"/>
          </p:cNvSpPr>
          <p:nvPr>
            <p:ph type="body" idx="1"/>
          </p:nvPr>
        </p:nvSpPr>
        <p:spPr>
          <a:xfrm>
            <a:off x="684875" y="851877"/>
            <a:ext cx="11217956" cy="541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/>
              <a:t>1.General &amp; Comparitive Analysis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963C51-7FE9-8354-E0CF-AF003CEA5D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51" y="1393810"/>
            <a:ext cx="6011114" cy="30994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6ADDE7C-2BE5-F3EE-765B-A8C3EE4BA615}"/>
              </a:ext>
            </a:extLst>
          </p:cNvPr>
          <p:cNvSpPr txBox="1"/>
          <p:nvPr/>
        </p:nvSpPr>
        <p:spPr>
          <a:xfrm>
            <a:off x="684875" y="1866847"/>
            <a:ext cx="578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QUERY:</a:t>
            </a:r>
          </a:p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F775170-A8B5-59EE-C657-0A5E0CCEE5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51" y="2290456"/>
            <a:ext cx="3839111" cy="11145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A85F3B6-BD96-02D2-2608-69F331211E9D}"/>
              </a:ext>
            </a:extLst>
          </p:cNvPr>
          <p:cNvSpPr txBox="1"/>
          <p:nvPr/>
        </p:nvSpPr>
        <p:spPr>
          <a:xfrm>
            <a:off x="6596185" y="1893763"/>
            <a:ext cx="472049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b="1" dirty="0"/>
          </a:p>
          <a:p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AE33CF0-159F-7D74-4D77-9FC92C0F40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6185" y="2208182"/>
            <a:ext cx="2648320" cy="34009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117FE87-E205-251A-FA49-D9C8A9B6A4B8}"/>
              </a:ext>
            </a:extLst>
          </p:cNvPr>
          <p:cNvSpPr txBox="1"/>
          <p:nvPr/>
        </p:nvSpPr>
        <p:spPr>
          <a:xfrm>
            <a:off x="684875" y="3561101"/>
            <a:ext cx="6134590" cy="2206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query calculates the total emissions for each country in the latest available year.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Countries are ranked from highest to lowest based on their total emissions.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results show which countries contribute the most to overall emissions.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10BD2C63-84D8-1CFF-69F2-33F2B865F5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febd49a5_0_33">
            <a:extLst>
              <a:ext uri="{FF2B5EF4-FFF2-40B4-BE49-F238E27FC236}">
                <a16:creationId xmlns:a16="http://schemas.microsoft.com/office/drawing/2014/main" id="{31E230B1-EA76-4498-C1F2-A09AC383DF8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101" y="0"/>
            <a:ext cx="4778899" cy="85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36" name="Google Shape;136;g3f6febd49a5_0_33">
            <a:extLst>
              <a:ext uri="{FF2B5EF4-FFF2-40B4-BE49-F238E27FC236}">
                <a16:creationId xmlns:a16="http://schemas.microsoft.com/office/drawing/2014/main" id="{E341CF35-6271-ED73-4B50-63A6516C3E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875" y="851877"/>
            <a:ext cx="11217956" cy="541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177856-1A13-0D43-C287-EC35D24615B7}"/>
              </a:ext>
            </a:extLst>
          </p:cNvPr>
          <p:cNvSpPr txBox="1"/>
          <p:nvPr/>
        </p:nvSpPr>
        <p:spPr>
          <a:xfrm>
            <a:off x="828098" y="1343627"/>
            <a:ext cx="578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QUERY: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BD965F-7DC6-04DE-330D-A839CA3855A3}"/>
              </a:ext>
            </a:extLst>
          </p:cNvPr>
          <p:cNvSpPr txBox="1"/>
          <p:nvPr/>
        </p:nvSpPr>
        <p:spPr>
          <a:xfrm>
            <a:off x="8346831" y="1605237"/>
            <a:ext cx="32746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b="1" dirty="0"/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27BBDB-8BAF-35DB-8590-12198ED4A146}"/>
              </a:ext>
            </a:extLst>
          </p:cNvPr>
          <p:cNvSpPr txBox="1"/>
          <p:nvPr/>
        </p:nvSpPr>
        <p:spPr>
          <a:xfrm>
            <a:off x="926420" y="4025529"/>
            <a:ext cx="6011114" cy="1560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query identifies the top 5 countries by GDP in the most recent year.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China has the highest GDP, followed by the United States.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India ranks third, followed by Japan and Germany.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59EFDF3-7707-13B4-29F0-8C9E5F05E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98" y="875479"/>
            <a:ext cx="7430537" cy="2762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7EFE9AC-66CC-F27F-82A1-BEE8DB9FB6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548" y="1749017"/>
            <a:ext cx="6449263" cy="203196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8F6B27F-A16B-C703-2E9D-9E39BFE4615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45546" y="1981480"/>
            <a:ext cx="2876550" cy="226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0655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1F0A39C7-59B7-C442-6583-3FB915CDC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febd49a5_0_33">
            <a:extLst>
              <a:ext uri="{FF2B5EF4-FFF2-40B4-BE49-F238E27FC236}">
                <a16:creationId xmlns:a16="http://schemas.microsoft.com/office/drawing/2014/main" id="{A67D4C02-B721-7138-BED4-8A11FB1D32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101" y="0"/>
            <a:ext cx="4778899" cy="85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36" name="Google Shape;136;g3f6febd49a5_0_33">
            <a:extLst>
              <a:ext uri="{FF2B5EF4-FFF2-40B4-BE49-F238E27FC236}">
                <a16:creationId xmlns:a16="http://schemas.microsoft.com/office/drawing/2014/main" id="{9C39061D-9A22-0C37-FF35-8DAAB66FCF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875" y="506129"/>
            <a:ext cx="11217956" cy="5764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Compare energy production and consumption by country and year.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77E5AD-6437-8F4B-AEAB-3D90CEB37F4A}"/>
              </a:ext>
            </a:extLst>
          </p:cNvPr>
          <p:cNvSpPr txBox="1"/>
          <p:nvPr/>
        </p:nvSpPr>
        <p:spPr>
          <a:xfrm>
            <a:off x="919991" y="1473557"/>
            <a:ext cx="578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QUERY: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F04D246-4AE8-FBA8-2CBD-82423279FD4D}"/>
              </a:ext>
            </a:extLst>
          </p:cNvPr>
          <p:cNvSpPr txBox="1"/>
          <p:nvPr/>
        </p:nvSpPr>
        <p:spPr>
          <a:xfrm>
            <a:off x="8201218" y="1473557"/>
            <a:ext cx="32746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b="1" dirty="0"/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56441F7-109D-D694-B56C-4CA655FC2C8A}"/>
              </a:ext>
            </a:extLst>
          </p:cNvPr>
          <p:cNvSpPr txBox="1"/>
          <p:nvPr/>
        </p:nvSpPr>
        <p:spPr>
          <a:xfrm>
            <a:off x="808351" y="3930492"/>
            <a:ext cx="6011114" cy="2206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query compares energy production and consumption for each country and year.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output shows how much energy each country produces and consumes.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This helps identify countries with higher production or higher consumption levels.</a:t>
            </a:r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B3A17C4-E3B2-63CA-9569-6FBFBB28C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51" y="1819305"/>
            <a:ext cx="6857512" cy="197817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028205A-810B-057F-9AB3-1C9DC3163B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9614" y="1943984"/>
            <a:ext cx="3188678" cy="3645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91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291D4826-C8B6-1137-E4CC-8B45256B20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febd49a5_0_33">
            <a:extLst>
              <a:ext uri="{FF2B5EF4-FFF2-40B4-BE49-F238E27FC236}">
                <a16:creationId xmlns:a16="http://schemas.microsoft.com/office/drawing/2014/main" id="{15519E48-D728-41AD-EC37-88E267B2B7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101" y="0"/>
            <a:ext cx="4778899" cy="85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36" name="Google Shape;136;g3f6febd49a5_0_33">
            <a:extLst>
              <a:ext uri="{FF2B5EF4-FFF2-40B4-BE49-F238E27FC236}">
                <a16:creationId xmlns:a16="http://schemas.microsoft.com/office/drawing/2014/main" id="{3065675B-31EE-3CA7-B851-6A2353F012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875" y="851877"/>
            <a:ext cx="11217956" cy="541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B285F2-A650-DF51-5829-25224F319C9F}"/>
              </a:ext>
            </a:extLst>
          </p:cNvPr>
          <p:cNvSpPr txBox="1"/>
          <p:nvPr/>
        </p:nvSpPr>
        <p:spPr>
          <a:xfrm>
            <a:off x="684875" y="1263873"/>
            <a:ext cx="578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QUERY: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FDECC4-7B2C-B5CD-A443-22CAEA5EDC73}"/>
              </a:ext>
            </a:extLst>
          </p:cNvPr>
          <p:cNvSpPr txBox="1"/>
          <p:nvPr/>
        </p:nvSpPr>
        <p:spPr>
          <a:xfrm>
            <a:off x="8111514" y="1398423"/>
            <a:ext cx="32746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b="1" dirty="0"/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E581E6-9129-A3E4-1ADA-D2F564EF04E6}"/>
              </a:ext>
            </a:extLst>
          </p:cNvPr>
          <p:cNvSpPr txBox="1"/>
          <p:nvPr/>
        </p:nvSpPr>
        <p:spPr>
          <a:xfrm>
            <a:off x="736356" y="3873935"/>
            <a:ext cx="6011114" cy="1237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CO2 emissions contribute the most to total emissions.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Coal and coke are the second-largest contributor.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Natural gas has the lowest contribution among the listed energy types.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73B7367-9442-905B-1B25-C9314C43F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75" y="707783"/>
            <a:ext cx="10602111" cy="37152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B7884F-040F-3493-C9B0-4560D23FBE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951" y="1694201"/>
            <a:ext cx="6972893" cy="18669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E2522D9-A450-09FA-7B11-C1041BD94A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000" y="1818398"/>
            <a:ext cx="3274646" cy="2655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2384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2906A900-51AF-666D-3AB9-95248D294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febd49a5_0_33">
            <a:extLst>
              <a:ext uri="{FF2B5EF4-FFF2-40B4-BE49-F238E27FC236}">
                <a16:creationId xmlns:a16="http://schemas.microsoft.com/office/drawing/2014/main" id="{D99B5FEF-966A-8A14-3A5F-429E41222F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101" y="0"/>
            <a:ext cx="4778899" cy="85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36" name="Google Shape;136;g3f6febd49a5_0_33">
            <a:extLst>
              <a:ext uri="{FF2B5EF4-FFF2-40B4-BE49-F238E27FC236}">
                <a16:creationId xmlns:a16="http://schemas.microsoft.com/office/drawing/2014/main" id="{EB856C50-72C1-F040-7F42-BB1D8A81E3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46261" y="645399"/>
            <a:ext cx="11217956" cy="541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2.Trend Analysis Over Time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ED949E-90FA-8CF2-2A22-2A269DAE8795}"/>
              </a:ext>
            </a:extLst>
          </p:cNvPr>
          <p:cNvSpPr txBox="1"/>
          <p:nvPr/>
        </p:nvSpPr>
        <p:spPr>
          <a:xfrm>
            <a:off x="646261" y="1708163"/>
            <a:ext cx="578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QUERY:</a:t>
            </a:r>
          </a:p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DA439B-C1E9-F8E1-CD68-E81A0BFE0D8C}"/>
              </a:ext>
            </a:extLst>
          </p:cNvPr>
          <p:cNvSpPr txBox="1"/>
          <p:nvPr/>
        </p:nvSpPr>
        <p:spPr>
          <a:xfrm>
            <a:off x="8251786" y="1862051"/>
            <a:ext cx="32746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OUTPUT:</a:t>
            </a:r>
          </a:p>
          <a:p>
            <a:endParaRPr lang="en-US" b="1"/>
          </a:p>
          <a:p>
            <a:endParaRPr lang="en-IN" b="1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480CC11-DC65-7AB3-CD28-4021AE6E707B}"/>
              </a:ext>
            </a:extLst>
          </p:cNvPr>
          <p:cNvSpPr txBox="1"/>
          <p:nvPr/>
        </p:nvSpPr>
        <p:spPr>
          <a:xfrm>
            <a:off x="808351" y="4452865"/>
            <a:ext cx="6011114" cy="1237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Global emissions increased every year from 2020 to 2023.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Emissions rose from 67,852 in 2020 to 74,161 in 2023.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results show a continuous upward trend in global emissions.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85A66BB-EBB5-C25C-B654-E10F518A85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354" y="1238338"/>
            <a:ext cx="7430537" cy="40010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4BEE04E-170E-312A-1286-833F282810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51" y="2128457"/>
            <a:ext cx="7105650" cy="19621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C063B1-00E7-3F04-C7B8-00C1BD1A47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51786" y="2231383"/>
            <a:ext cx="2571750" cy="203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6595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04F9A16D-5C9B-FBB8-50C2-0730D8A0D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febd49a5_0_33">
            <a:extLst>
              <a:ext uri="{FF2B5EF4-FFF2-40B4-BE49-F238E27FC236}">
                <a16:creationId xmlns:a16="http://schemas.microsoft.com/office/drawing/2014/main" id="{25FD9241-DFA6-5EEA-E3D4-0E28E801AD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101" y="0"/>
            <a:ext cx="4778899" cy="85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36" name="Google Shape;136;g3f6febd49a5_0_33">
            <a:extLst>
              <a:ext uri="{FF2B5EF4-FFF2-40B4-BE49-F238E27FC236}">
                <a16:creationId xmlns:a16="http://schemas.microsoft.com/office/drawing/2014/main" id="{D7EB40BE-C2AC-BD9D-9A93-8BD4488F31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875" y="851877"/>
            <a:ext cx="11217956" cy="541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B72ADC-C177-2E53-A88F-322386DBAC1C}"/>
              </a:ext>
            </a:extLst>
          </p:cNvPr>
          <p:cNvSpPr txBox="1"/>
          <p:nvPr/>
        </p:nvSpPr>
        <p:spPr>
          <a:xfrm>
            <a:off x="534158" y="1446723"/>
            <a:ext cx="578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QUERY: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BC343D8-0E43-1B8F-4FBE-1D8259DD99C1}"/>
              </a:ext>
            </a:extLst>
          </p:cNvPr>
          <p:cNvSpPr txBox="1"/>
          <p:nvPr/>
        </p:nvSpPr>
        <p:spPr>
          <a:xfrm>
            <a:off x="6967838" y="1504896"/>
            <a:ext cx="42760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b="1" dirty="0"/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855877B-841A-A9B0-4AB5-8EEFF09A56AF}"/>
              </a:ext>
            </a:extLst>
          </p:cNvPr>
          <p:cNvSpPr txBox="1"/>
          <p:nvPr/>
        </p:nvSpPr>
        <p:spPr>
          <a:xfrm>
            <a:off x="684875" y="3970873"/>
            <a:ext cx="6011114" cy="15604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query shows GDP values for each country across the given years.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GDP trends vary from country to country, with some increasing and others decreasing.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results help identify countries with rising or falling GDP over time.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AEF62B-FA6D-D3F1-B5AE-1130DCF38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158" y="768348"/>
            <a:ext cx="10917174" cy="41915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822F43-F1F4-37E7-F3B1-04B8BEE59E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75" y="2052515"/>
            <a:ext cx="5486400" cy="1428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CE310C3-FACF-6818-51E6-C75F7FA78D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67838" y="1969943"/>
            <a:ext cx="3543300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2755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3269F754-8988-E111-EF4E-695CF16EC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febd49a5_0_33">
            <a:extLst>
              <a:ext uri="{FF2B5EF4-FFF2-40B4-BE49-F238E27FC236}">
                <a16:creationId xmlns:a16="http://schemas.microsoft.com/office/drawing/2014/main" id="{FF8079AB-DCD5-98EC-B7FA-9C7A398372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101" y="0"/>
            <a:ext cx="4778899" cy="85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36" name="Google Shape;136;g3f6febd49a5_0_33">
            <a:extLst>
              <a:ext uri="{FF2B5EF4-FFF2-40B4-BE49-F238E27FC236}">
                <a16:creationId xmlns:a16="http://schemas.microsoft.com/office/drawing/2014/main" id="{EFBD4266-BD7F-2126-24F0-071593FA3C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444" y="442073"/>
            <a:ext cx="11217956" cy="541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How has population growth affected total emissions in each country?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20215D-FF31-CDA3-09B9-CC8110C2B543}"/>
              </a:ext>
            </a:extLst>
          </p:cNvPr>
          <p:cNvSpPr txBox="1"/>
          <p:nvPr/>
        </p:nvSpPr>
        <p:spPr>
          <a:xfrm>
            <a:off x="655379" y="1425026"/>
            <a:ext cx="578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QUERY: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466756-BDB1-4605-7FB9-DBEB1AAC2EAA}"/>
              </a:ext>
            </a:extLst>
          </p:cNvPr>
          <p:cNvSpPr txBox="1"/>
          <p:nvPr/>
        </p:nvSpPr>
        <p:spPr>
          <a:xfrm>
            <a:off x="7924044" y="1502357"/>
            <a:ext cx="32746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b="1" dirty="0"/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63F5DC0-B2DF-E642-DE54-39DF605AFE98}"/>
              </a:ext>
            </a:extLst>
          </p:cNvPr>
          <p:cNvSpPr txBox="1"/>
          <p:nvPr/>
        </p:nvSpPr>
        <p:spPr>
          <a:xfrm>
            <a:off x="596236" y="4128270"/>
            <a:ext cx="6011114" cy="2206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Population and total emissions can be compared for each country and year.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Countries with larger populations generally show higher total emissions.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results help identify the relationship between population size and emission levels.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40AA1C-6497-456B-A2E0-ED5657759D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79" y="1899598"/>
            <a:ext cx="6821957" cy="193504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9E171E-59C3-ECF2-895A-79AE1075BC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33706" y="1871689"/>
            <a:ext cx="3609323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200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5501531B-8F45-5AFA-16BE-82BD02E6A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febd49a5_0_33">
            <a:extLst>
              <a:ext uri="{FF2B5EF4-FFF2-40B4-BE49-F238E27FC236}">
                <a16:creationId xmlns:a16="http://schemas.microsoft.com/office/drawing/2014/main" id="{1B8AD715-30FA-5718-AB8B-EB7537B498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101" y="0"/>
            <a:ext cx="4778899" cy="85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36" name="Google Shape;136;g3f6febd49a5_0_33">
            <a:extLst>
              <a:ext uri="{FF2B5EF4-FFF2-40B4-BE49-F238E27FC236}">
                <a16:creationId xmlns:a16="http://schemas.microsoft.com/office/drawing/2014/main" id="{8D235EAF-88E4-5B0F-0BB1-1C31C4C0AB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875" y="452284"/>
            <a:ext cx="11217956" cy="5818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Has energy consumption Increased or decreased over the years for major economies? 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6A93B9-61E5-9832-1047-97A61B7220C3}"/>
              </a:ext>
            </a:extLst>
          </p:cNvPr>
          <p:cNvSpPr txBox="1"/>
          <p:nvPr/>
        </p:nvSpPr>
        <p:spPr>
          <a:xfrm>
            <a:off x="684875" y="1484718"/>
            <a:ext cx="578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QUERY:</a:t>
            </a:r>
          </a:p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EDAF2D-3819-A78D-A487-70A1B0556CC5}"/>
              </a:ext>
            </a:extLst>
          </p:cNvPr>
          <p:cNvSpPr txBox="1"/>
          <p:nvPr/>
        </p:nvSpPr>
        <p:spPr>
          <a:xfrm>
            <a:off x="8128000" y="1461642"/>
            <a:ext cx="32746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b="1" dirty="0"/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31FD02C-BBBD-EE57-E6F1-4DC721BE196C}"/>
              </a:ext>
            </a:extLst>
          </p:cNvPr>
          <p:cNvSpPr txBox="1"/>
          <p:nvPr/>
        </p:nvSpPr>
        <p:spPr>
          <a:xfrm>
            <a:off x="789354" y="4292946"/>
            <a:ext cx="6011114" cy="2206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China shows a clear increase in energy consumption, from 156 in 2020 to 177 in 2023.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Germany’s consumption decreased slightly, from 13 to 11 over the same period.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Energy consumption trends vary across major economies, showing different patterns over the years.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867457-4377-F67E-DFED-F6A583A4C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54" y="1830974"/>
            <a:ext cx="6972893" cy="2232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7700493-06A4-141E-825B-34198B491F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0431" y="1776858"/>
            <a:ext cx="3962400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586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0BBB73F9-28C7-81E9-D100-FE1870413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febd49a5_0_33">
            <a:extLst>
              <a:ext uri="{FF2B5EF4-FFF2-40B4-BE49-F238E27FC236}">
                <a16:creationId xmlns:a16="http://schemas.microsoft.com/office/drawing/2014/main" id="{0417A298-A990-5FF9-8BBF-1BC22A8B49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101" y="0"/>
            <a:ext cx="4778899" cy="85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36" name="Google Shape;136;g3f6febd49a5_0_33">
            <a:extLst>
              <a:ext uri="{FF2B5EF4-FFF2-40B4-BE49-F238E27FC236}">
                <a16:creationId xmlns:a16="http://schemas.microsoft.com/office/drawing/2014/main" id="{28C2D3B9-C0BE-B293-2BBA-994871E6E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875" y="851877"/>
            <a:ext cx="11217956" cy="541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8933C6-A8AE-B4B6-4F0C-A33BEDA8D049}"/>
              </a:ext>
            </a:extLst>
          </p:cNvPr>
          <p:cNvSpPr txBox="1"/>
          <p:nvPr/>
        </p:nvSpPr>
        <p:spPr>
          <a:xfrm>
            <a:off x="684875" y="1385196"/>
            <a:ext cx="578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QUERY: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E2F4534-DD86-0086-36B0-23401B805205}"/>
              </a:ext>
            </a:extLst>
          </p:cNvPr>
          <p:cNvSpPr txBox="1"/>
          <p:nvPr/>
        </p:nvSpPr>
        <p:spPr>
          <a:xfrm>
            <a:off x="8012534" y="1440161"/>
            <a:ext cx="32746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b="1" dirty="0"/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F19B79C-E294-568E-C3CB-4F1391032057}"/>
              </a:ext>
            </a:extLst>
          </p:cNvPr>
          <p:cNvSpPr txBox="1"/>
          <p:nvPr/>
        </p:nvSpPr>
        <p:spPr>
          <a:xfrm>
            <a:off x="662663" y="4132878"/>
            <a:ext cx="6011114" cy="22068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query calculates the average yearly change in per-capita emissions for each country.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 positive value indicates increasing emissions, while a negative value indicates a decrease.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results help compare how per-capita emissions are changing across countries over time.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CB1959C-A5EF-920C-904F-A2276C841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679" y="851877"/>
            <a:ext cx="7525800" cy="30484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010D536-3D02-0A03-8DB5-9C1DA535B1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663" y="1809493"/>
            <a:ext cx="7234578" cy="21152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AF5326-7507-3C63-5B44-3FCE804AD10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9003" y="1769949"/>
            <a:ext cx="3274646" cy="3752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0041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435229D5-99A0-FAF2-9C5E-CB68920DA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f6febd49a5_0_33">
            <a:extLst>
              <a:ext uri="{FF2B5EF4-FFF2-40B4-BE49-F238E27FC236}">
                <a16:creationId xmlns:a16="http://schemas.microsoft.com/office/drawing/2014/main" id="{41F30460-31A6-3505-6200-DD2A095C64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875" y="663193"/>
            <a:ext cx="11217956" cy="5607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3.Ratio &amp; Per Capita Analysis 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3939FB-1715-964D-BAD0-62824FFC7E54}"/>
              </a:ext>
            </a:extLst>
          </p:cNvPr>
          <p:cNvSpPr txBox="1"/>
          <p:nvPr/>
        </p:nvSpPr>
        <p:spPr>
          <a:xfrm>
            <a:off x="808351" y="1601216"/>
            <a:ext cx="578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QUERY: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0DED5-1AA9-059B-CEAD-D621AE153399}"/>
              </a:ext>
            </a:extLst>
          </p:cNvPr>
          <p:cNvSpPr txBox="1"/>
          <p:nvPr/>
        </p:nvSpPr>
        <p:spPr>
          <a:xfrm>
            <a:off x="7973205" y="1695924"/>
            <a:ext cx="32746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b="1" dirty="0"/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035597-A8BE-46B6-7B83-A18A60619A89}"/>
              </a:ext>
            </a:extLst>
          </p:cNvPr>
          <p:cNvSpPr txBox="1"/>
          <p:nvPr/>
        </p:nvSpPr>
        <p:spPr>
          <a:xfrm>
            <a:off x="826450" y="4311150"/>
            <a:ext cx="6011114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query calculates energy consumption per person for each country over the last decade.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It helps compare energy usage relative to population size across countries.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Higher values indicate greater energy consumption per person.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B340CB-9986-6D17-905A-A49C21774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450" y="1235519"/>
            <a:ext cx="6506483" cy="24768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A8340C2-4363-4C95-FA82-465A9F153C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450" y="1982992"/>
            <a:ext cx="6721231" cy="211119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FB017C1-910D-DD51-B6EB-F8A5E15F14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9558" y="2032829"/>
            <a:ext cx="3514091" cy="2792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6792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CDD4C-654C-F3C3-F30B-E8B64E14A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78822"/>
            <a:ext cx="10515600" cy="5252731"/>
          </a:xfrm>
        </p:spPr>
        <p:txBody>
          <a:bodyPr>
            <a:normAutofit/>
          </a:bodyPr>
          <a:lstStyle/>
          <a:p>
            <a:pPr marL="114300" indent="0">
              <a:buNone/>
            </a:pPr>
            <a:r>
              <a:rPr lang="en-US" sz="2400" dirty="0"/>
              <a:t>How does energy production per capita vary across countries?</a:t>
            </a:r>
          </a:p>
          <a:p>
            <a:pPr marL="114300" indent="0">
              <a:buNone/>
            </a:pPr>
            <a:r>
              <a:rPr lang="en-US" sz="1600" b="1" dirty="0"/>
              <a:t>QUERY:                                                                                                                                                     OUTPUT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                                                                                                                                                                  </a:t>
            </a:r>
          </a:p>
          <a:p>
            <a:pPr marL="114300" indent="0">
              <a:buNone/>
            </a:pPr>
            <a:r>
              <a:rPr lang="en-US" sz="1600" b="1" dirty="0"/>
              <a:t>                                                                                                                                                                    </a:t>
            </a:r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endParaRPr lang="en-US" sz="1600" b="1" dirty="0"/>
          </a:p>
          <a:p>
            <a:pPr marL="114300" indent="0">
              <a:buNone/>
            </a:pPr>
            <a:r>
              <a:rPr lang="en-US" sz="1600" b="1" dirty="0"/>
              <a:t>Key Insights:</a:t>
            </a:r>
          </a:p>
          <a:p>
            <a:pPr marL="114300" indent="0">
              <a:buNone/>
            </a:pPr>
            <a:r>
              <a:rPr lang="en-US" sz="1600" dirty="0"/>
              <a:t>The query calculates energy production per person for each country and year.</a:t>
            </a:r>
          </a:p>
          <a:p>
            <a:pPr marL="114300" indent="0">
              <a:buNone/>
            </a:pPr>
            <a:r>
              <a:rPr lang="en-US" sz="1600" dirty="0"/>
              <a:t>It helps compare energy production based on population size.</a:t>
            </a:r>
          </a:p>
          <a:p>
            <a:pPr marL="114300" indent="0">
              <a:buNone/>
            </a:pPr>
            <a:r>
              <a:rPr lang="en-US" sz="1600" dirty="0"/>
              <a:t>Higher values indicate greater energy production per person.</a:t>
            </a:r>
            <a:endParaRPr lang="en-IN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CDC287-7539-9B27-8195-CC67174C26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897" y="1906843"/>
            <a:ext cx="7755194" cy="18294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4BDD58D-A6A0-8995-BC20-87898AC7C1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9290" y="1906843"/>
            <a:ext cx="3179813" cy="357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4059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0A21F2EA-AD9D-E535-3EBB-14F8D2C9E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febd49a5_0_33">
            <a:extLst>
              <a:ext uri="{FF2B5EF4-FFF2-40B4-BE49-F238E27FC236}">
                <a16:creationId xmlns:a16="http://schemas.microsoft.com/office/drawing/2014/main" id="{B408EB98-7F58-3F30-4AF2-CDAAF68662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101" y="0"/>
            <a:ext cx="4778899" cy="85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36" name="Google Shape;136;g3f6febd49a5_0_33">
            <a:extLst>
              <a:ext uri="{FF2B5EF4-FFF2-40B4-BE49-F238E27FC236}">
                <a16:creationId xmlns:a16="http://schemas.microsoft.com/office/drawing/2014/main" id="{D935F1E9-B9D2-80E8-23CD-EF223709E0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875" y="851877"/>
            <a:ext cx="11217956" cy="541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24271A4-D25A-01B5-D4A5-49F5604BA28E}"/>
              </a:ext>
            </a:extLst>
          </p:cNvPr>
          <p:cNvSpPr txBox="1"/>
          <p:nvPr/>
        </p:nvSpPr>
        <p:spPr>
          <a:xfrm>
            <a:off x="684875" y="1492134"/>
            <a:ext cx="578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QUERY: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1C4B3D-A9C8-B73A-2C66-5AD9EDC8A03E}"/>
              </a:ext>
            </a:extLst>
          </p:cNvPr>
          <p:cNvSpPr txBox="1"/>
          <p:nvPr/>
        </p:nvSpPr>
        <p:spPr>
          <a:xfrm>
            <a:off x="7987491" y="1537214"/>
            <a:ext cx="32746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b="1" dirty="0"/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13D5BE0-EBDA-C5D9-47E6-496EEB8713B8}"/>
              </a:ext>
            </a:extLst>
          </p:cNvPr>
          <p:cNvSpPr txBox="1"/>
          <p:nvPr/>
        </p:nvSpPr>
        <p:spPr>
          <a:xfrm>
            <a:off x="684875" y="4386668"/>
            <a:ext cx="6011114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query compares energy consumption with GDP for each country.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 higher ratio means more energy is consumed relative to economic output.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results help identify countries with relatively high energy use compared to their GDP.</a:t>
            </a: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45FC02E-A622-460F-5DCE-869380E0D9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309" y="957663"/>
            <a:ext cx="7478169" cy="42868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3E370B3-676E-463F-DE5B-F34FF0C291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4875" y="1906546"/>
            <a:ext cx="7143273" cy="223629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07A0AB7-E3A7-54E6-D1AD-4B3EBF4142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3333" y="1906546"/>
            <a:ext cx="3064593" cy="2623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84350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B8A28BED-8983-D729-18E6-D53C0D0A22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febd49a5_0_33">
            <a:extLst>
              <a:ext uri="{FF2B5EF4-FFF2-40B4-BE49-F238E27FC236}">
                <a16:creationId xmlns:a16="http://schemas.microsoft.com/office/drawing/2014/main" id="{0726F4F2-88C9-75CA-7DE6-6AB8213F5F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101" y="0"/>
            <a:ext cx="4778899" cy="85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36" name="Google Shape;136;g3f6febd49a5_0_33">
            <a:extLst>
              <a:ext uri="{FF2B5EF4-FFF2-40B4-BE49-F238E27FC236}">
                <a16:creationId xmlns:a16="http://schemas.microsoft.com/office/drawing/2014/main" id="{DC6A560E-3E6E-533C-920D-8F7DE58B40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6217" y="587496"/>
            <a:ext cx="11217956" cy="541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4</a:t>
            </a:r>
            <a:r>
              <a:rPr lang="en-US" sz="2400" b="1" dirty="0"/>
              <a:t>.</a:t>
            </a:r>
            <a:r>
              <a:rPr lang="en-US" sz="2400" dirty="0"/>
              <a:t>Global comparisons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80C6C3-F569-A2CA-4771-3370E9724374}"/>
              </a:ext>
            </a:extLst>
          </p:cNvPr>
          <p:cNvSpPr txBox="1"/>
          <p:nvPr/>
        </p:nvSpPr>
        <p:spPr>
          <a:xfrm>
            <a:off x="606217" y="1658425"/>
            <a:ext cx="578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QUERY:</a:t>
            </a:r>
          </a:p>
          <a:p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59AE74-DAF1-4A4C-9C83-1029BC60C43E}"/>
              </a:ext>
            </a:extLst>
          </p:cNvPr>
          <p:cNvSpPr txBox="1"/>
          <p:nvPr/>
        </p:nvSpPr>
        <p:spPr>
          <a:xfrm>
            <a:off x="7786392" y="1627812"/>
            <a:ext cx="32746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b="1" dirty="0"/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B78F0CA-D5F1-3B21-9DBD-9131E900169C}"/>
              </a:ext>
            </a:extLst>
          </p:cNvPr>
          <p:cNvSpPr txBox="1"/>
          <p:nvPr/>
        </p:nvSpPr>
        <p:spPr>
          <a:xfrm>
            <a:off x="793651" y="4386847"/>
            <a:ext cx="6011114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Average GDP, emissions, and population are calculated for each year.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results help identify year-wise changes in economic, environmental, and population trends.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Comparing these averages over time shows how global conditions have changed.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410D77-5C36-376F-6F20-1B2C4CD86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75" y="1176851"/>
            <a:ext cx="5468113" cy="3524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C701194-D3C0-C4B6-FF2A-66FB91C163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331" y="2042125"/>
            <a:ext cx="6478710" cy="217989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5BBD797-83E2-8BE9-86D4-3A3077D300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1950" y="2023188"/>
            <a:ext cx="2242148" cy="2767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95741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2BB65913-0B0B-F278-FBB1-3E6EBA30F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f6febd49a5_0_33">
            <a:extLst>
              <a:ext uri="{FF2B5EF4-FFF2-40B4-BE49-F238E27FC236}">
                <a16:creationId xmlns:a16="http://schemas.microsoft.com/office/drawing/2014/main" id="{F18680FF-CDD6-D8FA-18C9-E6DF56A2E06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49101" y="0"/>
            <a:ext cx="4778899" cy="851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400"/>
              <a:buFont typeface="Calibri"/>
              <a:buNone/>
            </a:pPr>
            <a:endParaRPr b="1" dirty="0">
              <a:solidFill>
                <a:srgbClr val="FF0000"/>
              </a:solidFill>
            </a:endParaRPr>
          </a:p>
        </p:txBody>
      </p:sp>
      <p:sp>
        <p:nvSpPr>
          <p:cNvPr id="136" name="Google Shape;136;g3f6febd49a5_0_33">
            <a:extLst>
              <a:ext uri="{FF2B5EF4-FFF2-40B4-BE49-F238E27FC236}">
                <a16:creationId xmlns:a16="http://schemas.microsoft.com/office/drawing/2014/main" id="{24FA1391-1454-6084-E417-AABC657119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4875" y="851877"/>
            <a:ext cx="11217956" cy="54184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b="1" dirty="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400" b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4E7BB3-1A70-5FA9-1C6E-6C21AB780E8D}"/>
              </a:ext>
            </a:extLst>
          </p:cNvPr>
          <p:cNvSpPr txBox="1"/>
          <p:nvPr/>
        </p:nvSpPr>
        <p:spPr>
          <a:xfrm>
            <a:off x="586552" y="1478917"/>
            <a:ext cx="578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QUERY:</a:t>
            </a:r>
          </a:p>
          <a:p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091B2E-0F12-80A9-8A79-4498BE1AE986}"/>
              </a:ext>
            </a:extLst>
          </p:cNvPr>
          <p:cNvSpPr txBox="1"/>
          <p:nvPr/>
        </p:nvSpPr>
        <p:spPr>
          <a:xfrm>
            <a:off x="7934412" y="1478917"/>
            <a:ext cx="32746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OUTPUT:</a:t>
            </a:r>
          </a:p>
          <a:p>
            <a:endParaRPr lang="en-US" b="1" dirty="0"/>
          </a:p>
          <a:p>
            <a:endParaRPr lang="en-IN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BFA26E-7F68-C5BD-206E-34B7039C6921}"/>
              </a:ext>
            </a:extLst>
          </p:cNvPr>
          <p:cNvSpPr txBox="1"/>
          <p:nvPr/>
        </p:nvSpPr>
        <p:spPr>
          <a:xfrm>
            <a:off x="684875" y="4386668"/>
            <a:ext cx="6011114" cy="1883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query compares energy consumption with GDP for each country.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A higher ratio means more energy is consumed relative to economic output.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dirty="0"/>
              <a:t>The results help identify countries with relatively high energy use compared to their GDP.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CD8F71-380C-208C-EEA1-656568C227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875" y="883157"/>
            <a:ext cx="7249537" cy="4286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2A742F-0024-C167-BA1A-892CBABA8B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42" y="1926100"/>
            <a:ext cx="6966655" cy="212970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637B7E21-2EAA-4B33-093B-512D72B040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8293" y="1848249"/>
            <a:ext cx="3300765" cy="13710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322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3AC779C-CF9B-C52F-4D47-390119902F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febd49a5_0_18">
            <a:extLst>
              <a:ext uri="{FF2B5EF4-FFF2-40B4-BE49-F238E27FC236}">
                <a16:creationId xmlns:a16="http://schemas.microsoft.com/office/drawing/2014/main" id="{4F4D0991-2DF1-6CF7-41E5-E00326744D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873518" y="398584"/>
            <a:ext cx="5887528" cy="91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/>
            <a:r>
              <a:rPr lang="en-US" b="1">
                <a:solidFill>
                  <a:srgbClr val="FF0000"/>
                </a:solidFill>
              </a:rPr>
              <a:t>Experience / Challenges</a:t>
            </a:r>
          </a:p>
        </p:txBody>
      </p:sp>
      <p:sp>
        <p:nvSpPr>
          <p:cNvPr id="150" name="Google Shape;150;g3f6febd49a5_0_18">
            <a:extLst>
              <a:ext uri="{FF2B5EF4-FFF2-40B4-BE49-F238E27FC236}">
                <a16:creationId xmlns:a16="http://schemas.microsoft.com/office/drawing/2014/main" id="{35E667B8-F6D3-7584-8CC5-EF241CAA172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2849" y="1529150"/>
            <a:ext cx="11120565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>
              <a:buFont typeface="Wingdings" panose="05000000000000000000" pitchFamily="2" charset="2"/>
              <a:buChar char="Ø"/>
            </a:pPr>
            <a:r>
              <a:rPr lang="en-US" sz="2400"/>
              <a:t>Gained practical experience in MySQL and SQL data analysis using real-world energy data.</a:t>
            </a:r>
          </a:p>
          <a:p>
            <a:pPr marL="342900" lvl="0">
              <a:buFont typeface="Wingdings" panose="05000000000000000000" pitchFamily="2" charset="2"/>
              <a:buChar char="Ø"/>
            </a:pPr>
            <a:r>
              <a:rPr lang="en-US" sz="2400"/>
              <a:t>Learned to work with multiple related tables and connect data using SQL JOINs.</a:t>
            </a:r>
          </a:p>
          <a:p>
            <a:pPr marL="342900" lvl="0">
              <a:buFont typeface="Wingdings" panose="05000000000000000000" pitchFamily="2" charset="2"/>
              <a:buChar char="Ø"/>
            </a:pPr>
            <a:r>
              <a:rPr lang="en-US" sz="2400"/>
              <a:t>Improved skills in GROUP BY, aggregate functions, subqueries, and filtering.</a:t>
            </a:r>
          </a:p>
          <a:p>
            <a:pPr marL="342900" lvl="0">
              <a:buFont typeface="Wingdings" panose="05000000000000000000" pitchFamily="2" charset="2"/>
              <a:buChar char="Ø"/>
            </a:pPr>
            <a:r>
              <a:rPr lang="en-US" sz="2400"/>
              <a:t>Faced challenges in matching countries and years correctly across different tables.</a:t>
            </a:r>
          </a:p>
          <a:p>
            <a:pPr marL="342900" lvl="0">
              <a:buFont typeface="Wingdings" panose="05000000000000000000" pitchFamily="2" charset="2"/>
              <a:buChar char="Ø"/>
            </a:pPr>
            <a:r>
              <a:rPr lang="en-US" sz="2400"/>
              <a:t>Learned to handle ratios, missing/zero values, and complex analysis questions to get accurate results.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8213644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5EC0513A-28B2-1E86-B4E9-CE704820E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f6febd49a5_0_18">
            <a:extLst>
              <a:ext uri="{FF2B5EF4-FFF2-40B4-BE49-F238E27FC236}">
                <a16:creationId xmlns:a16="http://schemas.microsoft.com/office/drawing/2014/main" id="{8C8C8243-FCD6-F8A2-C974-96CC2CBCC4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22379" y="406399"/>
            <a:ext cx="3316267" cy="914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342900" lvl="0"/>
            <a:r>
              <a:rPr lang="en-US">
                <a:solidFill>
                  <a:srgbClr val="FF0000"/>
                </a:solidFill>
              </a:rPr>
              <a:t>Conclusion</a:t>
            </a:r>
          </a:p>
        </p:txBody>
      </p:sp>
      <p:sp>
        <p:nvSpPr>
          <p:cNvPr id="150" name="Google Shape;150;g3f6febd49a5_0_18">
            <a:extLst>
              <a:ext uri="{FF2B5EF4-FFF2-40B4-BE49-F238E27FC236}">
                <a16:creationId xmlns:a16="http://schemas.microsoft.com/office/drawing/2014/main" id="{6B616212-1713-ACEA-D10A-D9F768F6DD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72849" y="1529150"/>
            <a:ext cx="11120565" cy="47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>
              <a:buFont typeface="Wingdings" panose="05000000000000000000" pitchFamily="2" charset="2"/>
              <a:buChar char="Ø"/>
            </a:pPr>
            <a:r>
              <a:rPr lang="en-US" sz="2400"/>
              <a:t>Successfully analyzed global energy production, consumption, GDP, population, and emissions using SQL.</a:t>
            </a:r>
          </a:p>
          <a:p>
            <a:pPr marL="342900" lvl="0">
              <a:buFont typeface="Wingdings" panose="05000000000000000000" pitchFamily="2" charset="2"/>
              <a:buChar char="Ø"/>
            </a:pPr>
            <a:r>
              <a:rPr lang="en-US" sz="2400"/>
              <a:t>Compared countries and yearly trends to understand major differences in energy and emissions.</a:t>
            </a:r>
          </a:p>
          <a:p>
            <a:pPr marL="342900" lvl="0">
              <a:buFont typeface="Wingdings" panose="05000000000000000000" pitchFamily="2" charset="2"/>
              <a:buChar char="Ø"/>
            </a:pPr>
            <a:r>
              <a:rPr lang="en-US" sz="2400"/>
              <a:t>Identified important emission, consumption, and per-capita patterns across countries.</a:t>
            </a:r>
          </a:p>
          <a:p>
            <a:pPr marL="342900" lvl="0">
              <a:buFont typeface="Wingdings" panose="05000000000000000000" pitchFamily="2" charset="2"/>
              <a:buChar char="Ø"/>
            </a:pPr>
            <a:r>
              <a:rPr lang="en-US" sz="2400"/>
              <a:t>Used SQL JOINs, GROUP BY, subqueries, and aggregate functions to generate meaningful insights.</a:t>
            </a:r>
          </a:p>
          <a:p>
            <a:pPr marL="342900" lvl="0">
              <a:buFont typeface="Wingdings" panose="05000000000000000000" pitchFamily="2" charset="2"/>
              <a:buChar char="Ø"/>
            </a:pPr>
            <a:r>
              <a:rPr lang="en-US" sz="2400"/>
              <a:t>Improved my practical SQL and data analysis skills through this project.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9449589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5"/>
          <p:cNvSpPr txBox="1"/>
          <p:nvPr/>
        </p:nvSpPr>
        <p:spPr>
          <a:xfrm>
            <a:off x="1244600" y="2997200"/>
            <a:ext cx="3661836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4400"/>
              <a:buFont typeface="Libre Baskerville"/>
              <a:buNone/>
            </a:pPr>
            <a:r>
              <a:rPr lang="en-IN" sz="4400" b="0" i="0" u="none" strike="noStrike" cap="none">
                <a:solidFill>
                  <a:srgbClr val="C00000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THANK YOU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1139</Words>
  <Application>Microsoft Office PowerPoint</Application>
  <PresentationFormat>Widescreen</PresentationFormat>
  <Paragraphs>155</Paragraphs>
  <Slides>24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Calibri</vt:lpstr>
      <vt:lpstr>Libre Baskerville</vt:lpstr>
      <vt:lpstr>Arial</vt:lpstr>
      <vt:lpstr>Wingdings</vt:lpstr>
      <vt:lpstr>Office Theme</vt:lpstr>
      <vt:lpstr>PowerPoint Presentation</vt:lpstr>
      <vt:lpstr>PowerPoint Presentation</vt:lpstr>
      <vt:lpstr>AGENDA</vt:lpstr>
      <vt:lpstr>Objective :  </vt:lpstr>
      <vt:lpstr>Problem Statement :</vt:lpstr>
      <vt:lpstr>Overview : </vt:lpstr>
      <vt:lpstr>ER Diagram:</vt:lpstr>
      <vt:lpstr>Analysis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Experience / Challenges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Raghu Ram Aduri</dc:creator>
  <cp:lastModifiedBy>s s</cp:lastModifiedBy>
  <cp:revision>4</cp:revision>
  <dcterms:created xsi:type="dcterms:W3CDTF">2021-02-16T05:19:01Z</dcterms:created>
  <dcterms:modified xsi:type="dcterms:W3CDTF">2026-08-17T10:01:01Z</dcterms:modified>
</cp:coreProperties>
</file>